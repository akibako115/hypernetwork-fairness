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554480"/>
            <a:ext cx="9144000" cy="164592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属性の偏りを見つけ、直せるか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0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を主軸にした検証の組み直しと、Q1〜Q3 の結果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研究進捗報告　2026-10-16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報告の全体像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を主軸に、問いを「見つける」「直す」「効く条件」の 3 つに分けて組み直した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206240"/>
                <a:gridCol w="164592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中身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主軸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補足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Q1 発見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部分群の切り方で、見える性能差が変わるか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CheXpert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ISIC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Q2 是正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条件・損失・学習の段のどれを変えれば、属性の偏りが縮むか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CheXpert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HAM10000・FairVLMed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Q3 条件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データをどう操作すれば、振り分けが効くようになるか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CheXpert（元データと並べる）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HAM10000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2926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Q1：属性を基準に、画像の特徴から作った部分群と、撮影条件などの交絡の候補を、同じ指標で比べた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Q2：属性で条件付けた hypernet に公平性損失をかけ、学習の手順 3 つで比べた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Q3：条件付けが効いた HAM10000 と、効かなかった CheXpert・FairVLMed を同じ物差しで比べた（手がかり）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Q1：比べた部分群の定義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 発見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属性を基準に、画像特徴のクラスタと交絡の候補を、群の数をそろえて同じ指標で比べた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8463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区分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定義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群の数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基準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属性：年齢（65 歳で 2 区分）× race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画像特徴のクラスタ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k-means・GMM（LHCF と同じ）：基盤モデルの埋め込み（RAD-DINO・DINOv2）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GEORGE：ERM モデル自身の特徴を、陽性・陰性それぞれの中で GMM（原典どおり）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8（基準とそろえる）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交絡の候補：撮影文脈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撮影方向（正面 PA・正面 AP・側面）× 追跡撮影か × レポート種別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交絡の候補：画像に写る部分集団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ペースメーカー・PICC・中心静脈ライン・胸骨切開・手術クリップ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 2（有無）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クラスタは 1 段目が見ていない train_b に当て、test に割り当てた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ERM の特徴を k-means・GMM で切ると、スコアの高さで群が分かれて群内の AUROC が機械的に下がるので使わない。GEORGE はクラスの中で切るので、原典どおり ERM の特徴を使う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GEORGE は群が片方のクラスだけなので、群の AUROC は「陽性の群 vs 全陰性」で求める（他と同じ物差しではない）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LHCF：Masroor et al., MICCAI 2026　GEORGE：Sohoni et al., NeurIPS 2020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Q1：モデルと指標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 発見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医用画像の公平性で標準の 4 指標を使い、属性との差を患者単位の bootstrap で比べた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モデル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ImageNet 初期化の ResNet-50 を ERM で学習（No Finding の 2 値）。train を患者で二分した片方だけで学習。seed 42 の 1 本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CheXpert の test 19,617 枚（陽性 10%）。補足に ISIC 2019 の施設間（BCN20000 で学習 → HAM10000 で評価）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順位：最悪群 AUROC、AUROC gap（最大 − 最小）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しきい値：Eopp1（TPR の最大 − 最小）、Eopp0（FPR の最大 − 最小）。しきい値は val の Youden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比べ方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各定義の値から属性の値を引いた差。95% 区間は患者単位の bootstrap（1,000 回）で、同じ標本の上で差を取る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群の下限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陽性・陰性とも 10 件以上の群だけを評価する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 結果：定義ごとの性能差（CheXpert）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 発見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基盤モデルのクラスタでは順位の差は属性と変わらず、FPR の差だけが大きい。ERM の特徴で切る GEORGE では、TPR・FPR の差がともに大きい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pic>
        <p:nvPicPr>
          <p:cNvPr id="10" name="Image 0" descr="/home/akiba/workspace/hypernet-fairness/docs/slide-chexpert-q1/figures/q1_values_chexp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44752"/>
            <a:ext cx="7680960" cy="29044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GEORGE は群が片方のクラスだけなので群の AUROC は定義できない。TPR 差は陽性の 4 群、FPR 差は陰性の 4 群で求めた。属性の値：最悪群 AUROC 0.74 [0.65, 0.80]、AUROC gap 0.14 [0.08, 0.25]、Eopp1 0.42 [0.30, 0.58]、Eopp0 0.21 [0.18, 0.29]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 結果の読み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 発見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FPR の差は、画像の種類で群が分かれ、群ごとに陰性のスコア分布が違うことから来ていると読める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基盤モデルのクラスタ：FPR の差（Eopp0）が属性より +0.17〜+0.41 大きい。撮影文脈は +0.47</a:t>
            </a:r>
            <a:endParaRPr lang="en-US" sz="12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群の有病率の幅は、属性 0.05〜0.16 に対し、k-means（RAD-DINO）0.05〜0.30、撮影文脈 0.03〜0.48</a:t>
            </a:r>
            <a:endParaRPr lang="en-US" sz="12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陰性のスコア分布が群で違うと、共通のしきい値では FPR が群で変わる。ここは解釈で、まだ分解はしていない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順位（最悪群 AUROC・AUROC gap）は、どの定義も属性と区別できない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GEORGE（ERM の特徴、クラスの中で切る）：TPR 差 0.92、FPR 差 0.68 と、属性（0.42、0.21）よりはるかに大きい</a:t>
            </a:r>
            <a:endParaRPr lang="en-US" sz="12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モデル自身がスコアを低く付けた陽性が 1 つの群に集まる。「部分集団」より「モデルにとって難しい例」を切り出していると読める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ISIC（補足、付録）でも、基盤モデルのクラスタは同じ傾向（k-means で Eopp0 が +0.17）。GEORGE の大きな差は ISIC では出ない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Q1：交絡の候補で切ると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 発見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撮影文脈で切ると FPR の差が大きい。画像に写る部分集団は、単独では差が小さい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691640"/>
                <a:gridCol w="169164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定義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最小群の枚数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最悪群 AUROC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Eopp1（TPR 差）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Eopp0（FPR 差）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（基準）年齢 × race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325（陽性 22）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0.74 [0.65, 0.80]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0.42 [0.30, 0.58]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0.21 [0.18, 0.29]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05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撮影文脈（18 群）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05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196（陽性 25）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05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0.72 [0.61, 0.74]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05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0.48 [0.42, 0.56]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05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0.68 [0.63, 0.76]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ペースメーカー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1689（陽性 154）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0.85 [0.82, 0.86]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0.07 [0.01, 0.17]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0.02 [0.00, 0.05]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PICC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2150（陽性 218）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0.85 [0.84, 0.86]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0.03 [0.00, 0.08]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0.05 [0.02, 0.08]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中心静脈ライン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4461（陽性 360）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0.85 [0.83, 0.86]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0.08 [0.02, 0.14]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0.11 [0.09, 0.12]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胸骨切開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1897（陽性 92）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0.82 [0.75, 0.86]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0.22 [0.07, 0.40]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0.09 [0.06, 0.11]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手術クリップ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1093（陽性 86）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0.85 [0.78, 0.86]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0.00 [0.00, 0.13]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0.01 [0.00, 0.05]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部分集団は 2 群なので、8 群の属性と値をそのまま比べることはできない。目立つのは胸骨切開の TPR 差（陽性 92 件）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これらが属性間の差をどれだけ作っているか（構成をそろえた比較）は、まだ測っていない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Q1：どういう偏りなら、どの切り方で見えるか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 発見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属性に沿わない偏りは属性で切ると消え、クラスタでも群が粗いと見えない（旧設定の植え込み実験）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44752"/>
            <a:ext cx="8229600" cy="438912"/>
          </a:xfrm>
          <a:prstGeom prst="rect">
            <a:avLst/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4475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意図　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正解の分かっている偏りを学習データに植え込み、各切り方で見えるかを確かめた。指標・群の数が上の設定とそろっていない旧設定の結果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状況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植え込み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属性で切る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画像特徴のクラスタで切る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属性に沿わない部分集団を学び損ねる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ペースメーカーに触れる陽性を 10% に間引く（その部分集団の log O/E +0.62、TPR 0.49）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見えない。ペースメーカーが最も多いセルでも割合 20%、log O/E −0.08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 群なら見える（ペースメーカー 81% のクラスタ、log O/E +0.57）。8 群では割合 18% で見えない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属性と画像要因の交差に偏りがある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 歳未満の女性 × デバイスの陽性を陰性に反転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見える。モデルが偏りを属性の軸に沿って広げた（デバイスの無い若年女性にも log O/E +0.27）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どの切り方が役に立つかは、偏りが属性の軸に沿うかと、群の細かさの両方で決まる</a:t>
            </a:r>
            <a:endParaRPr lang="en-US" sz="10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log O/E：群の観測陽性数 ÷ 予測確率の和（の対数）。正なら過少予測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 のまとめと次の課題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 発見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基盤モデルのクラスタでは FPR の差だけが変わり、ERM の特徴で切るとモデルにとって難しい例が集まって、TPR・FPR の差が大きく見えた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分かったこと</a:t>
            </a:r>
            <a:endParaRPr lang="en-US" sz="12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順位（AUROC）の差は、属性・基盤モデルのクラスタ・撮影文脈のどれで切っても同程度</a:t>
            </a:r>
            <a:endParaRPr lang="en-US" sz="12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基盤モデルのクラスタと撮影文脈で切ると、FPR の差が属性より大きく見える</a:t>
            </a:r>
            <a:endParaRPr lang="en-US" sz="12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ERM の特徴をクラスの中で切る（GEORGE）と、モデルにとって難しい例が集まり、TPR・FPR の差が大きく見える</a:t>
            </a:r>
            <a:endParaRPr lang="en-US" sz="12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属性に沿わない偏りは、属性で切ると見えない（植え込み）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次の課題</a:t>
            </a:r>
            <a:endParaRPr lang="en-US" sz="12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FPR の差が、較正のずれによるのか、群の症例の構成によるのかを分ける</a:t>
            </a:r>
            <a:endParaRPr lang="en-US" sz="12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撮影文脈や部分集団が、属性間の差をどれだけ作っているかを測る（構成をそろえた比較）</a:t>
            </a:r>
            <a:endParaRPr lang="en-US" sz="12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ERM の特徴からスコアの方向を除いてクラスタにする。hypernet が生成する補正で部分群を定義する</a:t>
            </a:r>
            <a:endParaRPr lang="en-US" sz="12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植え込み実験を今の設定で回し直す。1 段目の seed を増やす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Q2：問いと設定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是正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属性で条件付けた hypernet に公平性損失をかけ、学習の手順 3 つで、群の性能差が縮むかを比べた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132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属性で条件付けた hypernet は、ERM のままで、または公平性損失をかけたときに、群の性能差を縮めるか。手順で結論が変わるか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モデル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属性（年齢・性別・race・ethnicity・撮影方向）で条件付けた Spatial LoRA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群・指標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年齢（65 歳で 2 区分）× race の 8 群。指標は Q1 と同じ 4 つと全体 AUROC。3 seed の平均、患者単位の bootstrap 95%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損失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ERM・EO rate（Cotter et al. 2019）・minimax AUC（Yang et al. 2023）。群の重みは学習に使わない held-out（train の患者の 20%）で更新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手順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 段：ImageNet から全層を学習（12.6 万枚）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 段 in-sample：train 全体で学習した ResNet-50 を凍結し、1 段と同じデータで adapter を学習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 段 cross-fit：train の半分で学習した ResNet-50 を凍結し、残り半分で adapter を学習（6.3 万枚）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B5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比べ方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手順の中での「損失 − ERM」だけを読む（手順の間でデータの量が違う）。epoch は val の全体 AUROC で選ぶ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EO の task 重みの初期値だけ 0.9 に変えた（一様な初期値では全予測が片側に寄って崩れた）。GroupDRO は q が最悪群に向かず、代表にしない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結果 1：ERM の hypernet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是正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ERM で学習した hypernet は、ResNet-50 の ERM と変わらない。例外の HAM10000 も、改善は全体性能で公平性ではない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属性条件付き Spatial LoRA − ResNet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HyperAdapt − ResNet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群間の差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CheXpert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+0.001 [−0.001, +0.003]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−0.000 [−0.002, +0.002]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最悪群 AUROC・gap とも雑音の範囲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FairVLMed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−0.004 [−0.012, +0.006]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+0.004 [−0.004, +0.012]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race 軸の gap・最悪群に差なし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5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HAM10000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5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+0.025 [+0.011, +0.040]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5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+0.021 [+0.005, +0.037]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5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性別 × 年齢の gap・Eopp は変わらない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 test AUROC の差、3 seed の平均、患者（HAM は病変）単位の bootstrap 95%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HAM10000 で上がる理由は Q3 で扱う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結果 2：公平性損失が変えるもの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是正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損失は群内の順位の差（最悪群 AUROC・gap）を縮めず、動作点（Eopp1・Eopp0）だけを下げる。3 手順とも同じ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pic>
        <p:nvPicPr>
          <p:cNvPr id="10" name="Image 0" descr="/home/akiba/workspace/hypernet-fairness/docs/slide-chexpert-q1/figures/q2_loss_eff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8229600" cy="24612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段では群の重みが held-out で最悪の群に向いていた（minimax AUC の q は最悪ペアに 0.32〜0.89）。損失は意図どおり働いたうえでの結果で、実装や最適化の失敗とは言いにくい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 AUROC は minimax AUC で −0.013〜−0.024 下がる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結果 3：群別しきい値との比較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是正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損失の動作点の改善は、ERM に val で決めた群別しきい値を当てれば同等以上になり、全体 AUROC も下がらない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pic>
        <p:nvPicPr>
          <p:cNvPr id="10" name="Image 0" descr="/home/akiba/workspace/hypernet-fairness/docs/slide-chexpert-q1/figures/q2_thres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8229600" cy="251811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950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群別しきい値：群ごとに、全体の動作点（全体 Youden のしきい値での TPR・FPR）に最も近い点を val で選ぶ。スコアは ERM のまま</a:t>
            </a:r>
            <a:endParaRPr lang="en-US" sz="8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minimax AUC のスコアは「ERM のスコアの定数倍 + 群ごとの定数」でほぼ近似でき（2 段で val の R² 0.93〜0.95）、test の Eopp も再現する。群別しきい値をスコアに焼き込んだものに当たる</a:t>
            </a:r>
            <a:endParaRPr lang="en-US" sz="8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例外：1 段の Eopp0 だけは損失のほうが低い（0.10〜0.11 対 0.18）。Eopp0 を直接狙うしきい値は未確認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結果 4：全体 AUROC が下がる理由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是正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つのスコアで群の動作点をそろえると、群をまたぐ順位が崩れて全体 AUROC が下がる。低下の 85〜95% がこの分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pic>
        <p:nvPicPr>
          <p:cNvPr id="10" name="Image 0" descr="/home/akiba/workspace/hypernet-fairness/docs/slide-chexpert-q1/figures/q2_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08760"/>
            <a:ext cx="4114800" cy="17792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46304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 AUROC は、陽性・陰性の全組の一致率。同じ群の中の組（22%）と、群をまたぐ組（78%）に分けられる</a:t>
            </a:r>
            <a:endParaRPr lang="en-US" sz="10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群ごとにスコアを平行移動させても、群の中の組は動かず、群をまたぐ組だけが動く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陽性率が群で違うと、共通のしきい値で動作点をそろえるには、群のスコアの位置関係を崩すしかない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残りは人数の多い群の群内 AUROC がわずかに下がった分（minimax AUC で −0.004〜−0.013）。悪い群は上がらない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順位付けは ERM のスコア、判定は群別しきい値、と分ければ両立する。hypernet は属性を入力に取るので、群別しきい値を使えない理由も無い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のまとめと次の課題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是正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公平性のために hypernet を使うメリットは見つからない。損失の効果は、後から群別しきい値を当てることで代わりが利く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分かったこと</a:t>
            </a:r>
            <a:endParaRPr lang="en-US" sz="12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ERM の hypernet は ResNet-50 と変わらない（CheXpert・FairVLMed）</a:t>
            </a:r>
            <a:endParaRPr lang="en-US" sz="12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公平性損失は群内の順位の差を縮めず、動作点だけを変える。1 段・2 段のどの手順でも同じ</a:t>
            </a:r>
            <a:endParaRPr lang="en-US" sz="12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動作点の改善は、ERM + 群別しきい値で同等以上。全体 AUROC の低下は、しきい値をスコアに焼き込む代償</a:t>
            </a:r>
            <a:endParaRPr lang="en-US" sz="12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ResNet-50 に同じ損失をかけた予備実験（seed 42、年齢 2 群）でも振る舞いは同じ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次の課題</a:t>
            </a:r>
            <a:endParaRPr lang="en-US" sz="12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損失自身の狙う量を、学習データ・held-out・test の 3 か所で追い、効きを失う場所を切り分ける</a:t>
            </a:r>
            <a:endParaRPr lang="en-US" sz="12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Eopp0 を直接狙うしきい値との比較。1 段の群の重みの診断（今は最後の 1 バッチの値で粗い）</a:t>
            </a:r>
            <a:endParaRPr lang="en-US" sz="12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と同じ設定の ResNet-50 の run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Q3：条件付けが効くのはどんなデータか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Q3 条件（手がかり）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条件付けで上がる幅は、属性が「画像のスコアに無いラベルの情報」を運ぶ度合いで決まる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pic>
        <p:nvPicPr>
          <p:cNvPr id="10" name="Image 0" descr="/home/akiba/workspace/hypernet-fairness/docs/slide-chexpert-q1/figures/q3_datas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120640" cy="20327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146304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ResNet の出力に属性を後から足したときの上がり幅：HAM +0.009、FairVLMed +0.006、CheXpert +0.001。条件付けの上がり方と同じ順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属性だけの予測力は 3 データとも高い（HAM 0.80、FairVLMed 0.68、CheXpert 0.70）。CheXpert では、その情報が画像のスコアにすでに入っている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FairVLMed は上がる余地が標本誤差（0.005）と同程度で、構成そのものの損と打ち消し合う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画像から作った条件（潜在クラスタ・ランダム区分）は効かない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値は test、3 seed の平均。区間は患者（病変）単位の bootstrap 95%。後から足す重みは val で学習。analysis/dataset_gain_sources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Q3：HAM10000 で上がる 2 つの機構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Q3 条件（手がかり）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年齢による事前確率の注入と、年齢を条件が受け持つことで画像側の判定が良くなる作用の 2 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1005840"/>
                <a:gridCol w="1097280"/>
                <a:gridCol w="201168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区別する組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ResNet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条件を定数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属性条件付き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属性条件付き（test 時に属性を固定）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固定 − 定数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黒色腫 vs 母斑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0.927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0.938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0.948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0.931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−0.007 [−0.020, +0.006]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黒色腫 vs bkl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0.791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0.805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0.856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0.846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+0.041 [+0.010, +0.071]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黒色腫 vs bcc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0.798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0.832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0.869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0.868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+0.036 [+0.004, +0.072]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26974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黒色腫 vs 母斑：test 時に渡す年齢による事前確率の注入（母斑は平均 45 歳、黒色腫 61 歳）。属性を固定すると消え、後から足すだけ・分類層だけの条件付けでほぼ再現する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黒色腫 vs bkl・bcc：属性を入れて学習したこと自体で、画像側の判定が良くなる。良性内のスコアと年齢の相関は ResNet 0.15 → 0.04 に下がり、年齢を条件が受け持って画像側が「老いた皮膚らしさ」を悪性の代わりに使わなくなった、という解釈と整合する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 2 つめは val ではほとんど出ず、分布のずれた公式 test でだけ大きい。全体性能の改善で、性別 × 年齢の公平性は変わらない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全体のまとめ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公平性のために hypernet（属性の条件付け）を使うメリットは、現時点では見つからなかった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 発見：順位（AUROC）の差は部分群の切り方で区別できず、FPR の差だけが画像の種類で群を切ると大きく見える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是正：hypernet は ERM で ResNet と変わらず、公平性損失は動作点だけを変える。その効果は ERM + 群別しきい値で代わりが利く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Q3 条件：条件付けが効くのは、属性が画像に無い情報を運ぶときに限られ、その効果は公平性ではなく全体性能に出る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次の方向</a:t>
            </a:r>
            <a:endParaRPr lang="en-US" sz="12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画像に無い情報（レポート文・臨床情報など）を条件にする PoC。効くかは「出力に後から足したときの上がり幅」で学習前に見積もる</a:t>
            </a:r>
            <a:endParaRPr lang="en-US" sz="12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先行研究（HyperAdapt・MoE 系）の設定での再現と、私たちの対照（定数条件・分類層だけ・入れ替え）の追加</a:t>
            </a:r>
            <a:endParaRPr lang="en-US" sz="125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HAM で年齢だけで条件付ける・外す学習（肩代わりの因果の確認）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 A1：Q1 の結果（ISIC 2019、施設間）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ISIC でも AUROC の差は属性と区別できず、k-means で FPR の差が大きく見える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pic>
        <p:nvPicPr>
          <p:cNvPr id="10" name="Image 0" descr="/home/akiba/workspace/hypernet-fairness/docs/slide-chexpert-q1/figures/q1_values_i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44752"/>
            <a:ext cx="7680960" cy="22024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BCN20000 で学習した ResNet-50 を HAM10000 の test（4,031 枚、陽性 12%）で評価。基準は性別 × 年齢の 4 群、クラスタも 4 群</a:t>
            </a:r>
            <a:endParaRPr lang="en-US" sz="10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属性の値：最悪群 AUROC 0.73 [0.61, 0.76]、Eopp1 0.22 [0.10, 0.37]、Eopp0 0.30 [0.25, 0.35]</a:t>
            </a:r>
            <a:endParaRPr lang="en-US" sz="1000" dirty="0"/>
          </a:p>
          <a:p>
            <a:pPr lvl="1" marL="3048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GMM は有効な群が 3 つしか残らなかった。GEORGE の陰性の群は 2 つで、FPR がほぼ同じ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 A2：Q2 の結果（全表）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最悪群 AUROC・gap はどの手順・損失でも ERM と区別できず、Eopp1・Eopp0 だけが下がる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51560"/>
                <a:gridCol w="777240"/>
                <a:gridCol w="1371600"/>
                <a:gridCol w="137160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手順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損失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全体 AUROC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最悪群 AUROC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AUROC gap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Eopp1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Eopp0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 段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ERM（値）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0.860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0.725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0.151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0.53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0.23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EO（差）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−0.007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−0.003 [−0.026, +0.015]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+0.005 [−0.025, +0.027]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−0.20 [−0.28, −0.09]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−0.12 [−0.15, −0.07]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minimax AUC（差）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−0.024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−0.001 [−0.025, +0.018]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−0.007 [−0.036, +0.023]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−0.22 [−0.31, −0.10]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−0.12 [−0.14, −0.08]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 段 in-sample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ERM（値）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0.862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0.722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0.158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0.52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0.19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EO（差）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−0.001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−0.001 [−0.012, +0.009]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+0.002 [−0.011, +0.014]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−0.06 [−0.11, −0.01]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−0.04 [−0.06, −0.01]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minimax AUC（差）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−0.013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−0.007 [−0.021, +0.007]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+0.006 [−0.019, +0.020]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−0.20 [−0.28, −0.10]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−0.12 [−0.15, −0.07]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 段 cross-fit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ERM（値）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0.859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0.730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0.149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0.49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0.23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EO（差）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−0.004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+0.002 [−0.024, +0.017]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−0.003 [−0.034, +0.022]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−0.07 [−0.14, +0.00]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−0.07 [−0.10, −0.02]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minimax AUC（差）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−0.017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−0.005 [−0.024, +0.011]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+0.000 [−0.026, +0.022]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−0.09 [−0.16, +0.01]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−0.12 [−0.15, −0.08]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損失の行は同じ手順の ERM との差 [95% 区間]。epoch は val の全体 AUROC で選択。損失自身の狙いで epoch を選んでも結論は同じ（results/q2_fairness_loss.csv）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 A3：損失は意図どおり働いたか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段では群の重みが held-out で最も悪い群に向いていた。1 段の診断は粗く、向いていなかった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手順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損失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学習の終わりの群の重み（seed 42・43・44）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 段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EO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制約に載った重み 0.24・0.28・0.23、うち最悪 TPR の群を上げる重み 0.001・0.001・0.001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 段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minimax AUC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最悪ペアに載った q 0.00・0.00・0.00、q 最大のペアが最悪ペアか いいえ・いいえ・いいえ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 段 in-sample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EO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制約に載った重み 0.09・0.10・0.11、うち最悪 TPR の群を上げる重み 0.026・0.026・0.064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 段 in-sample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minimax AUC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最悪ペアに載った q 0.75・0.83・0.89、q 最大のペアが最悪ペアか はい・はい・はい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 段 cross-fit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EO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制約に載った重み 0.19・0.19・0.21、うち最悪 TPR の群を上げる重み 0.068・0.083・0.117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 段 cross-fit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minimax AUC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最悪ペアに載った q 0.84・0.52・0.32、q 最大のペアが最悪ペアか はい・はい・はい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段の値は epoch の最後の 1 バッチ（16 セル × 8 件）から測った粗い診断。2 段は epoch 中の held-out の率の平均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CheXpert を主軸にした検証の組み直し：研究進捗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 A4：ResNet-50 に公平性損失をかけた予備実験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2240" y="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3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ResNet-50 と Spatial LoRA で、公平性損失の振る舞いは同じだった（seed 42、年齢 2 群）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9525">
            <a:solidFill>
              <a:srgbClr val="1F3B57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条件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AUROC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Eopp1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Eodds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ERM ResNet-50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0.868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0.241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0.187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ERM Spatial LoRA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0.869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0.294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0.215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ResNet-50 minimax AUC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0.851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0.138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0.088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Spatial LoRA minimax AUC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0.854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0.180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0.110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ResNet-50 EO rate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0.861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0.156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0.107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Spatial LoRA EO rate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0.862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0.123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0.074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val の値、val AUROC 最大の epoch。群の重みは train のバッチで更新（Q2 の held-out 方式の前の設定）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 ERM より AUROC が 0.007〜0.019 下がり、動作点の差は学習の序盤だけ縮む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analysis/conditional_fairness_one_stage（2026-10-08）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2026-10-12T05:09:54Z</dcterms:created>
  <dcterms:modified xsi:type="dcterms:W3CDTF">2026-10-12T05:09:54Z</dcterms:modified>
</cp:coreProperties>
</file>